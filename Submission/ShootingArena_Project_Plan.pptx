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3557016" cy="1865376"/>
          </a:xfrm>
          <a:custGeom>
            <a:avLst/>
            <a:gdLst/>
            <a:ahLst/>
            <a:cxnLst/>
            <a:rect l="l" t="t" r="r" b="b"/>
            <a:pathLst>
              <a:path w="3557016" h="1865376">
                <a:moveTo>
                  <a:pt x="0" y="0"/>
                </a:moveTo>
                <a:lnTo>
                  <a:pt x="1691640" y="0"/>
                </a:lnTo>
                <a:lnTo>
                  <a:pt x="3557016" y="1865376"/>
                </a:lnTo>
                <a:lnTo>
                  <a:pt x="1865376" y="1865376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877824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0" y="0"/>
                </a:moveTo>
                <a:lnTo>
                  <a:pt x="987552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2093976"/>
            <a:ext cx="8887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#Unreal Engine 5   #C++ / Blueprint   #Dedicated Server   #AI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2450592"/>
            <a:ext cx="99029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Shooting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3456432"/>
            <a:ext cx="99029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퀘이크 스타일 멀티플레이 아레나 슈터 - 프로젝트 기획서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1952" y="4443984"/>
            <a:ext cx="2798064" cy="18288"/>
          </a:xfrm>
          <a:prstGeom prst="rect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4645152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Unreal Engine 5  |  2025.11 ~ 진행 중  |  팀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4974336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github.com/Qusbell/BattleArena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1271016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27101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63677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개요, 개발 환경,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1271016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1892807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1892807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게임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25856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플레이 방식, 유사 게임 비교, 핵심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2" y="1892807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04~06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514600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51460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시스템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88036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클라이언트 · 서버 · 데이터/AI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2514600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136391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136391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상세 구현 작업목록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502151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분류별 구현 항목과 진행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3136391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08~10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3758184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375818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4123944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게임 내 AI, 개발 과정의 AI 활용과 해결 방법, 프롬프트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3758184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11~13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4379976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437997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일정 계획표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474573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구현 목록별 7주 로드맵과 마일스톤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4379976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5001768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2032" y="5001768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일일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2032" y="536752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기말까지 하루 단위 작업 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5001768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15~18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1952" y="5623560"/>
            <a:ext cx="63093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2032" y="562356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제출물 구성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2032" y="598932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제출 항목 체크리스트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5623560"/>
            <a:ext cx="1188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p.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빠른 이동과 아이템 경쟁이 중심인 멀티플레이 아레나 FPS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55064"/>
            <a:ext cx="10671048" cy="4572000"/>
          </a:xfrm>
          <a:prstGeom prst="roundRect">
            <a:avLst>
              <a:gd name="adj" fmla="val 4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4016" y="182880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PC (Windows)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2880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2880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멀티플레이 아레나 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286000"/>
            <a:ext cx="9902952" cy="9144"/>
          </a:xfrm>
          <a:prstGeom prst="rect">
            <a:avLst/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37744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개발 인원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6" y="237744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팀 프로젝트 (기여자 10명 내외)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7744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개발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237744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2025.11 ~ 2026.12 초 (기말 제출)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834640"/>
            <a:ext cx="9902952" cy="9144"/>
          </a:xfrm>
          <a:prstGeom prst="rect">
            <a:avLst/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92608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292608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Unreal Engine 5, C++ + Blueprint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92608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네트워크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3" y="292608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Dedicated Server, Steam / EOS 세션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3383280"/>
            <a:ext cx="9902952" cy="9144"/>
          </a:xfrm>
          <a:prstGeom prst="rect">
            <a:avLst/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47472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47472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GitHub (커밋 2,500+), 기능별 브랜치 / 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474720"/>
            <a:ext cx="1271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2983" y="347472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DataTable · DataAsset 기반 밸런스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931920"/>
            <a:ext cx="9902952" cy="9144"/>
          </a:xfrm>
          <a:prstGeom prst="rect">
            <a:avLst/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114800"/>
            <a:ext cx="12710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14016" y="4114800"/>
            <a:ext cx="86319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퀘이크 계열 아레나 슈터의 속도감을 살린 팀 개발 게임을 완성하고, AI 봇 대전(캠페인)과 온라인 멀티플레이를 모두 지원한다.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46320"/>
            <a:ext cx="12710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14016" y="4846320"/>
            <a:ext cx="863193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이동기(달리기 · 대쉬 · 파쿠르 · 슬라이딩), 점프패드, 포탈 / 텔레포트</a:t>
            </a:r>
          </a:p>
          <a:p>
            <a:pPr algn="l" marL="228600" indent="-228600">
              <a:spcAft>
                <a:spcPts val="4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다양한 무기와 아이템 · 버프 경쟁, 킬스트릭 · 데스캠 · 복수 연출</a:t>
            </a:r>
          </a:p>
          <a:p>
            <a:pPr algn="l" marL="228600" indent="-228600">
              <a:spcAft>
                <a:spcPts val="4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가중치로 판단하는 AI 봇, 난이도별 캠페인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로비 → 맵 선택 → 매치 → 결과 화면까지 이어지는 단일 서버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Game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로비에서 시작해 결과 화면까지 이어지는 한 판의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55064"/>
            <a:ext cx="2423160" cy="1783080"/>
          </a:xfrm>
          <a:prstGeom prst="roundRect">
            <a:avLst>
              <a:gd name="adj" fmla="val 10256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188366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88366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83664"/>
            <a:ext cx="1463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42032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닉네임 설정, 캐릭터 선택, 파티 대기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9544" y="2441448"/>
            <a:ext cx="274320" cy="237744"/>
          </a:xfrm>
          <a:prstGeom prst="rightArrow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1655064"/>
            <a:ext cx="2423160" cy="1783080"/>
          </a:xfrm>
          <a:prstGeom prst="roundRect">
            <a:avLst>
              <a:gd name="adj" fmla="val 10256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76472" y="188366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188366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883664"/>
            <a:ext cx="1463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맵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542032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맵 · 난이도 투표, 캠페인 / 멀티 선택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2744" y="2441448"/>
            <a:ext cx="274320" cy="237744"/>
          </a:xfrm>
          <a:prstGeom prst="rightArrow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1655064"/>
            <a:ext cx="2423160" cy="1783080"/>
          </a:xfrm>
          <a:prstGeom prst="roundRect">
            <a:avLst>
              <a:gd name="adj" fmla="val 10256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188366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88366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1883664"/>
            <a:ext cx="1463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매치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542032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아이템을 먹고 무기를 쟁취하며 킬 경쟁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95944" y="2441448"/>
            <a:ext cx="274320" cy="237744"/>
          </a:xfrm>
          <a:prstGeom prst="rightArrow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88552" y="1655064"/>
            <a:ext cx="2423160" cy="1783080"/>
          </a:xfrm>
          <a:prstGeom prst="roundRect">
            <a:avLst>
              <a:gd name="adj" fmla="val 10256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188366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88366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1883664"/>
            <a:ext cx="1463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542032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킬 / 데스 순위표, 로비 복귀 투표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" y="3657600"/>
            <a:ext cx="5248656" cy="2578608"/>
          </a:xfrm>
          <a:prstGeom prst="roundRect">
            <a:avLst>
              <a:gd name="adj" fmla="val 7092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390448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CAMPAIGN  -  AI 봇 대전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4389120"/>
            <a:ext cx="4526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난이도별 DataTable로 봇 캐릭터를 스폰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맵마다 캐릭터 행(Row)과 Campaign_Count를 지정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혼자서도 매치 전체 흐름을 즐길 수 있음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657600"/>
            <a:ext cx="5248656" cy="2578608"/>
          </a:xfrm>
          <a:prstGeom prst="roundRect">
            <a:avLst>
              <a:gd name="adj" fmla="val 7092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90448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MULTIPLAYER  -  온라인 대전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4389120"/>
            <a:ext cx="4526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Dedicated Server 한 프로세스에서 로비와 매치를 ServerTravel로 전환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전원 찬성 시 로비로 복귀하는 투표 시스템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로딩 화면이 모든 클라이언트의 준비를 대기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Similar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유사 게임과 비교한 Shooting Arena의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62763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게임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2763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닮은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2763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Shooting Arena의 차별점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1956816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956816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Quake III Arena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56816"/>
            <a:ext cx="34747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빠른 이동, 점프패드, 아이템 경쟁, 아레나 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56816"/>
            <a:ext cx="384048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파쿠르 · 슬라이딩 · 대쉬 등 이동기 확장, 포탈 / 텔레포트 맵 기믹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035808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035808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Unreal Tournament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035808"/>
            <a:ext cx="34747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다양한 무기, 버프 아이템, 봇 대전 모드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35808"/>
            <a:ext cx="384048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가중치 기반 AI, 난이도별 캠페인 스폰, 킬스트릭 보이스 연출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4114800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114800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Overwatch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114800"/>
            <a:ext cx="34747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캐릭터별 특성, 킬캠 / 사망 연출, 결과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114800"/>
            <a:ext cx="384048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DataTable로 캐릭터 · 특성을 관리, 복수 대상 표시와 닉네임 아웃라인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193792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193792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Apex Legends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93792"/>
            <a:ext cx="34747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이동 중심 전투, 사망 시 아이템 드롭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93792"/>
            <a:ext cx="384048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사망 드롭 아이템과 스폰 지점 선택 시스템, 한 판이 짧은 아레나 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Core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게임을 구성하는 여섯 가지 핵심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27632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874519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313432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달리기 / 대쉬 / 파쿠르 / 슬라이딩</a:t>
            </a:r>
          </a:p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수치는 DataAsset으로 조정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JumpPad: 비대칭 중력 궤도 솔버(C++)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627632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874519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TELEPORT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13432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원웨이 텔레포트 액터</a:t>
            </a:r>
          </a:p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포탈 화면을 각 클라이언트 로컬 카메라 기준으로 렌더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서버로 렌더 상태를 복제하지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27632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874519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WEAPON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313432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투사체 수렴 / 조준 정렬 컴포넌트</a:t>
            </a:r>
          </a:p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빔 · 머즐플래시 이펙트 라이브러리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초기 무기 로드아웃 DataAsset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4041648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8853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ITEM &amp; BUFF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727448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ATK / DEF 버프 교대 스폰</a:t>
            </a:r>
          </a:p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버프 연출과 종료 예고음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사망 시 아이템 드롭, 스폰 지점 선택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71416" y="4041648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28853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COMBAT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727448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킬스트릭 보이스, 첫 킬 연출</a:t>
            </a:r>
          </a:p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데스캠, 복수 대상 표시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닉네임 · 아웃라인, 최근 공격자 킬 크레딧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4041648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28853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SERVER &amp;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727448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로비 / 매치 단일 서버 ServerTravel</a:t>
            </a:r>
          </a:p>
          <a:p>
            <a:pPr algn="l" marL="228600" indent="-228600">
              <a:spcAft>
                <a:spcPts val="6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로딩 화면 코디네이터, 재접속 GameMode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결과 화면, BGM 서브시스템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C++ 로직과 Blueprint 콘텐츠, DataTable로 나눈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55064"/>
            <a:ext cx="3300984" cy="3328416"/>
          </a:xfrm>
          <a:prstGeom prst="roundRect">
            <a:avLst>
              <a:gd name="adj" fmla="val 554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01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95728"/>
            <a:ext cx="27889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PlayerController / HUD (UMG 위젯)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PortalViewSubsystem: 로컬 포탈 렌더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DeathCam, 닉네임 · 아웃라인 표시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LoadingScreenSubsystem, BGMSubsystem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87368" y="3200400"/>
            <a:ext cx="329184" cy="256032"/>
          </a:xfrm>
          <a:prstGeom prst="rightArrow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655064"/>
            <a:ext cx="3300984" cy="3328416"/>
          </a:xfrm>
          <a:prstGeom prst="roundRect">
            <a:avLst>
              <a:gd name="adj" fmla="val 554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901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395728"/>
            <a:ext cx="27889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LobbyGameMode / LobbyGameState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TravelToMatch (ServerTravel 전환)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RecentAttacker: 킬 크레딧 판정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DeathDrop · BuffSpawnCycle 서브시스템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99831" y="3200400"/>
            <a:ext cx="329184" cy="256032"/>
          </a:xfrm>
          <a:prstGeom prst="rightArrow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55064"/>
            <a:ext cx="3300984" cy="3328416"/>
          </a:xfrm>
          <a:prstGeom prst="roundRect">
            <a:avLst>
              <a:gd name="adj" fmla="val 554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1901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DATA &amp;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395728"/>
            <a:ext cx="27889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DT_Character / DT_Characteristic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BT 타겟 선택 서비스, AIController</a:t>
            </a:r>
          </a:p>
          <a:p>
            <a:pPr algn="l" marL="228600" indent="-228600">
              <a:spcAft>
                <a:spcPts val="80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가중치 DataTable (임계값 · 가중치)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각종 DataAsset (무기, 사운드, 데스캠)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230368"/>
            <a:ext cx="10671048" cy="886968"/>
          </a:xfrm>
          <a:prstGeom prst="roundRect">
            <a:avLst>
              <a:gd name="adj" fmla="val 20618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230368"/>
            <a:ext cx="100584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공통 로직은 C++ 컴포넌트와 서브시스템으로 만들고, 레벨 · UI · 연출은 Blueprint로 조립한다. 밸런스 값은 DataTable / DataAsset으로 분리해 코드 수정 없이 조정한다.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Implementation List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분류별 상세 구현 작업목록과 진행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00200"/>
            <a:ext cx="5248656" cy="4663440"/>
          </a:xfrm>
          <a:prstGeom prst="roundRect">
            <a:avLst>
              <a:gd name="adj" fmla="val 392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801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네트워크 · 서버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240280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350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로비 / 매치 단일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66090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한 프로세스에서 ServerTravel로 전환(TravelToMatch)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23682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368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218688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328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맵 선택 · 멀티 접속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WBP_LobbyMapSelect, Server_ChangeMap, 콘솔 접속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3346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197096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306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로딩 화면 코디네이터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6177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클라이언트 준비 동기화, 입력 프리즈 해결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5175504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2852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재접속 · 로비 복귀 투표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59612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ReconnectionGameMode, "로비로" 만장일치 투표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5303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진행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1600200"/>
            <a:ext cx="5248656" cy="4663440"/>
          </a:xfrm>
          <a:prstGeom prst="roundRect">
            <a:avLst>
              <a:gd name="adj" fmla="val 392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801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이동 · 맵 기믹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9944" y="2240280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2350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특수 이동기 4종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266090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달리기 / 대쉬 / 파쿠르 / 슬라이딩, DataAsset 수치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50424" y="23682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0424" y="2368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9944" y="3218688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2824" y="3328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JumpPad 궤도 솔버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SuggestJumpPadVelocity + JumpPadFlightComponent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50424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0424" y="3346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9944" y="4197096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4306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포탈 / 텔레포트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46177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OneWayTeleportActor, 로컬 카메라 기반 포탈 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50424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0424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9944" y="5175504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2824" y="52852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맵 제작 · 배치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2824" y="559612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Quake 계열 맵 다수, 기믹 배치와 동선 조정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50424" y="5303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50424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진행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Implementation List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분류별 상세 구현 작업목록과 진행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00200"/>
            <a:ext cx="5248656" cy="4663440"/>
          </a:xfrm>
          <a:prstGeom prst="roundRect">
            <a:avLst>
              <a:gd name="adj" fmla="val 392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801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무기 · 전투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240280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350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투사체 수렴 / 조준 정렬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66090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ProjectileConvergence, WeaponAimAlignment 컴포넌트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23682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368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218688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328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무기 이펙트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빔, 머즐플래시, 월드 충돌, 1인칭 렌더링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3346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197096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306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초기 무기 로드아웃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6177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InitialWeaponLoadout DataAsset로 스폰 시 지급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5175504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2852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킬 크레딧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59612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RecentAttackerComponent로 최종 공격자 결정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5303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1600200"/>
            <a:ext cx="5248656" cy="4663440"/>
          </a:xfrm>
          <a:prstGeom prst="roundRect">
            <a:avLst>
              <a:gd name="adj" fmla="val 392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801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아이템 · 버프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9944" y="2240280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2350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스폰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266090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ItemSpawnSelectionLibrary, 순차 / 왕복 스폰 행 선택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50424" y="23682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0424" y="2368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9944" y="3218688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2824" y="3328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버프 교대 스폰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ATK / DEF 행을 번갈아 스폰(BuffSpawnCycle)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50424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0424" y="3346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9944" y="4197096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4306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버프 연출 · 종료 예고음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46177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DataTable 사운드 연동, 종료 직전 경고음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50424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0424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9944" y="5175504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2824" y="52852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사망 드롭 · 스폰 선택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2824" y="559612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DeathDropSubsystem, SpawnSelectionComponent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50424" y="5303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50424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Implementation List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분류별 상세 구현 작업목록과 진행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00200"/>
            <a:ext cx="5248656" cy="4663440"/>
          </a:xfrm>
          <a:prstGeom prst="roundRect">
            <a:avLst>
              <a:gd name="adj" fmla="val 392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801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연출 ·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240280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350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킬스트릭 보이스 / 데스캠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66090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연속 킬 음성, 사망 시 킬러 시점 카메라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23682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368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218688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328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복수 대상 · 닉네임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ShooterRevenge, Nickname, Outline 컴포넌트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3346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197096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306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BGM · 캐릭터 스폰 사운드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6177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BGMSubsystem, BGMSettings DataAsset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5175504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2852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결과 화면 · 랭킹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59612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WBP_Result / ResultRow 마무리, 동점 순위 처리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5303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진행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1600200"/>
            <a:ext cx="5248656" cy="4663440"/>
          </a:xfrm>
          <a:prstGeom prst="roundRect">
            <a:avLst>
              <a:gd name="adj" fmla="val 392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801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캠페인 · 도구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9944" y="2240280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2350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판단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266090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체력 · 방어구 · 탄약 가중치와 거리 감점, 시너지 뺄셈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50424" y="23682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0424" y="2368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9944" y="3218688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2824" y="3328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타겟 선택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BTService_SelectTarget, QuakeTargetSelectionAIController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50424" y="3346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0424" y="3346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9944" y="4197096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4306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캠페인 캐릭터 스폰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46177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DataTable 기반, 맵별 난이도 Row와 Campaign_Count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50424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0424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9944" y="5175504"/>
            <a:ext cx="4791456" cy="868680"/>
          </a:xfrm>
          <a:prstGeom prst="roundRect">
            <a:avLst>
              <a:gd name="adj" fmla="val 1263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2824" y="52852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맵 분석 · 에디터 도구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2824" y="559612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ArenaAnalyzeSubsystem, ShootingArenaEditorTools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50424" y="5303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50424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진행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 in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게임 안에서 동작하는 AI와 판단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27632"/>
            <a:ext cx="5248656" cy="2331720"/>
          </a:xfrm>
          <a:prstGeom prst="roundRect">
            <a:avLst>
              <a:gd name="adj" fmla="val 7843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188366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88366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1" y="188366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23744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항목별 DataTable의 임계값(Threshold)과 가중치(Weight)로 점수를 계산한다. 체력이 낮으면 체력 가중치에서 방어구 가중치를 빼, 힐팩을 먼저 찾게 유도한다.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27632"/>
            <a:ext cx="5248656" cy="2331720"/>
          </a:xfrm>
          <a:prstGeom prst="roundRect">
            <a:avLst>
              <a:gd name="adj" fmla="val 7843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188366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88366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88366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거리 감점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523744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최종 점수에서 AI와의 거리에 비례해 감점한다. 점수가 비슷하면 가장 가까운 아이템을 선택해 이동 낭비를 줄인다.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4096512"/>
            <a:ext cx="5248656" cy="2331720"/>
          </a:xfrm>
          <a:prstGeom prst="roundRect">
            <a:avLst>
              <a:gd name="adj" fmla="val 7843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1" y="435254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35254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1" y="435254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타겟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92624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Behavior Tree 서비스(BTService_SelectTarget)가 교전 대상을 선택하고 AIController가 이동 · 공격을 수행한다.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4096512"/>
            <a:ext cx="5248656" cy="2331720"/>
          </a:xfrm>
          <a:prstGeom prst="roundRect">
            <a:avLst>
              <a:gd name="adj" fmla="val 7843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352544"/>
            <a:ext cx="429768" cy="429768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352544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4352544"/>
            <a:ext cx="4114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난이도 스폰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992624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DataTable에 맵별 캐릭터 Row와 Campaign_Count를 두고, 선택한 난이도에 맞는 봇 캐릭터를 생성한다.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AI-Assisted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개발 과정에서 AI(Claude)를 활용해 문제를 해결한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62763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62763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활용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162763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1956816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956816"/>
            <a:ext cx="30175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점프패드 궤도가 목표 지점에 안 맞음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956816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비대칭 중력 조건을 AI와 수식으로 정리하고 풀이 방식을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1956816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C++ 솔버 SuggestJumpPadVelocity와 JumpPadFlightComponent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035808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035808"/>
            <a:ext cx="30175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로비와 매치 서버가 분리되어 있음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3035808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기존 흐름을 읽게 하고 단일 서버 구조로 리팩터링 방안을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3035808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한 프로세스에서 ServerTravel로 전환하는 TravelToMatch 구현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4114800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114800"/>
            <a:ext cx="30175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서버에서 값 변경이 클라이언트에 반영 안 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4114800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Push Model 복제 동작의 원인을 단계별로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4114800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NetMulticast RPC + 클라이언트 pull 방식으로 갱신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193792"/>
            <a:ext cx="10671048" cy="969264"/>
          </a:xfrm>
          <a:prstGeom prst="roundRect">
            <a:avLst>
              <a:gd name="adj" fmla="val 15094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193792"/>
            <a:ext cx="30175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Blueprint(.uasset)는 텍스트로 읽을 수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5193792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바이너리에서 실제 노드 · 변수 이름을 grep으로 추출하는 방법 도출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5193792"/>
            <a:ext cx="329184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AI가 Blueprint 구조를 파악하고 수정 지침을 단계별로 안내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Prompt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프롬프트 원문은 별도 Word 문서로 제출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27632"/>
            <a:ext cx="5248656" cy="4617720"/>
          </a:xfrm>
          <a:prstGeom prst="roundRect">
            <a:avLst>
              <a:gd name="adj" fmla="val 396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8470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프롬프트 작성 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31720"/>
            <a:ext cx="46634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현재 상황과 기대 동작을 먼저 설명</a:t>
            </a:r>
          </a:p>
          <a:p>
            <a:pPr algn="l" marL="228600" indent="-228600">
              <a:spcAft>
                <a:spcPts val="10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관련 파일 · 클래스 이름을 구체적으로 지정</a:t>
            </a:r>
          </a:p>
          <a:p>
            <a:pPr algn="l" marL="228600" indent="-228600">
              <a:spcAft>
                <a:spcPts val="10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오류 로그와 스크린샷을 함께 첨부</a:t>
            </a:r>
          </a:p>
          <a:p>
            <a:pPr algn="l" marL="228600" indent="-228600">
              <a:spcAft>
                <a:spcPts val="100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한 번에 하나의 문제만 요청하고, 결과를 직접 실행해 검증</a:t>
            </a:r>
          </a:p>
          <a:p>
            <a:pPr algn="l" marL="228600" indent="-228600">
              <a:spcAft>
                <a:spcPts val="0"/>
              </a:spcAft>
              <a:buClr>
                <a:srgbClr val="7FD6B0"/>
              </a:buClr>
              <a:buFont typeface="Malgun Gothic"/>
              <a:buChar char="–"/>
            </a:pPr>
            <a:r>
              <a:rPr sz="1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AI의 답을 그대로 쓰지 않고 팀 규칙에 맞게 수정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27632"/>
            <a:ext cx="5202936" cy="4617720"/>
          </a:xfrm>
          <a:prstGeom prst="roundRect">
            <a:avLst>
              <a:gd name="adj" fmla="val 396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470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Word 문서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33172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523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JumpPad, 서버 구조, 복제, 결과 화면 등 기능별 분류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291839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38327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프롬프트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12463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실제 입력한 질문 원문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5196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434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 답변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6725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핵심 제안과 코드 / 블루프린트 변경점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21208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53035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6327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적용 후 동작 확인, 수정한 부분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구현 목록별 일정 계획표 (2026.10.16 ~ 12.04, 7주)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W1  10/16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W2  10/23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W3  10/30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W4  11/06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W5  11/13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W6  11/20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59" y="1600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W7  11/27~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19659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9659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네트워크 · 서버 안정화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48456" y="2029967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" y="24231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4231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이동 · 무기 보정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45736" y="2487168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28803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8803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결과 화면 · 랭킹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944368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33375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3375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연출 · 사운드 ·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0296" y="3401568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" y="37947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7947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 · 캠페인 튜닝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7575" y="3858768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8952" y="42519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519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밸런스 · 성능 · 버그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5" y="4315968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" y="4709160"/>
            <a:ext cx="10671048" cy="384048"/>
          </a:xfrm>
          <a:prstGeom prst="roundRect">
            <a:avLst>
              <a:gd name="adj" fmla="val 2380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7091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패키징 · 문서 · 제출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32135" y="4773168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3035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MILESTONE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" y="5596128"/>
            <a:ext cx="2532888" cy="731520"/>
          </a:xfrm>
          <a:prstGeom prst="roundRect">
            <a:avLst>
              <a:gd name="adj" fmla="val 175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5669280"/>
            <a:ext cx="822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10/29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5669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1차 통합 빌드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943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핵심 시스템 안정화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56432" y="5596128"/>
            <a:ext cx="2532888" cy="731520"/>
          </a:xfrm>
          <a:prstGeom prst="roundRect">
            <a:avLst>
              <a:gd name="adj" fmla="val 175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9312" y="5669280"/>
            <a:ext cx="822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11/11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5669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2차 통합 빌드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943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결과 화면 · 연출 완료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3912" y="5596128"/>
            <a:ext cx="2532888" cy="731520"/>
          </a:xfrm>
          <a:prstGeom prst="roundRect">
            <a:avLst>
              <a:gd name="adj" fmla="val 175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5669280"/>
            <a:ext cx="822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11/24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9752" y="5669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3차 통합 빌드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9752" y="5943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AI · 밸런스 확정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51392" y="5596128"/>
            <a:ext cx="2532888" cy="731520"/>
          </a:xfrm>
          <a:prstGeom prst="roundRect">
            <a:avLst>
              <a:gd name="adj" fmla="val 17500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34272" y="5669280"/>
            <a:ext cx="822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12/04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5669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최종 제출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7232" y="5943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빌드 · 문서 · 영상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Daily Plan 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10.16 ~ 10.28  |  기말까지 일 단위 작업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날짜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작업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78308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8308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8308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현황 점검, 이슈 목록화, 기획서 제출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78308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213055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13055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13055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13055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3055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247802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247802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47802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47802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7802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282549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282549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82549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82549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로비 → 매치 흐름 회귀 테스트 (서버 1 + 클라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82549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317296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17296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17296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17296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재접속 GameMode 시나리오 점검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17296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" y="3520439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3520439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3520439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3520439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로딩 화면 코디네이터 예외 케이스 수정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520439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" y="386791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386791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386791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386791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맵 선택 UI · Server_ChangeMap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86791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" y="421538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" y="421538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21538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421538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이동기 4종 수치 조정 (DataAsset)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21538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" y="456285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" y="456285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456285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56285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56285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" y="491032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9848" y="491032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91032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491032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491032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" y="525780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" y="525780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525780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25780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JumpPad 비행 컴포넌트 맵별 배치 테스트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525780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" y="560527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" y="560527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560527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560527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포탈 / 텔레포트 멀티 클라이언트 검증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60527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8952" y="595274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9848" y="595274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40280" y="595274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63240" y="595274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무기 투사체 수렴 · 충돌 보정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95274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Daily Plan 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10.29 ~ 11.10  |  기말까지 일 단위 작업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날짜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작업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78308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8308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8308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1차 통합 빌드 및 중간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78308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213055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13055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10.30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13055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13055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결과 화면 (WBP_Result) 레이아웃 마무리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3055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서버 · 이동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247802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247802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10.31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47802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47802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7802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282549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282549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82549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82549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82549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317296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17296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17296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17296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ResultRow 킬 / 데스 / 점수 바인딩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17296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" y="3520439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3520439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3520439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3520439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랭킹 동점 처리 로직 구현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520439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" y="386791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386791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386791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386791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랭킹 동점 테스트 및 수정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86791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" y="421538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" y="421538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21538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421538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킬스트릭 보이스 · 첫 킬 연출 점검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21538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" y="456285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" y="456285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456285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56285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데스캠 · 복수 대상 UI 다듬기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56285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" y="491032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9848" y="491032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91032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491032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491032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" y="525780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" y="525780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525780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25780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525780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" y="560527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" y="560527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560527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560527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닉네임 / 아웃라인 표시 규칙 정리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60527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8952" y="595274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9848" y="595274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40280" y="595274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63240" y="595274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버프 연출 · 종료 예고음 최종 확인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95274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Daily Plan 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11.11 ~ 11.22  |  기말까지 일 단위 작업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날짜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작업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78308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8308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8308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2차 통합 빌드 및 플레이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78308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213055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13055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13055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13055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 아이템 가중치 DataTable 튜닝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3055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247802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247802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47802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47802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 타겟 선택 (BT Service)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7802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결과 · 연출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282549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282549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82549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82549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82549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317296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17296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17296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17296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17296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" y="3520439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3520439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3520439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3520439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캠페인 난이도별 캐릭터 DataTable 구성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520439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" y="386791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386791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386791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386791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난이도 3단계 AI 테스트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86791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" y="421538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" y="421538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21538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421538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AI의 JumpPad / 포탈 이동 경로 검증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21538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" y="456285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" y="456285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456285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56285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아이템 스폰 주기 · 버프 교대 밸런스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56285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" y="491032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9848" y="491032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91032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491032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사망 드롭 · 스폰 선택 규칙 점검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491032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" y="525780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" y="525780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525780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25780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525780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" y="560527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" y="560527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560527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560527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60527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Daily Plan 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11.23 ~ 12.04  |  기말까지 일 단위 작업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날짜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작업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481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78308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8308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8308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성능 프로파일링 (프레임 · 네트워크)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78308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213055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13055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13055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13055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3차 통합 빌드 및 버그 리스트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3055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AI · 밸런스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247802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247802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47802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47802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버그 수정 1차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7802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282549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282549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82549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82549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Dedicated Server 패키징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82549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317296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17296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17296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17296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클라이언트 패키징 및 용량 점검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17296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" y="3520439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3520439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3520439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3520439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520439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" y="386791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" y="386791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11.29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386791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386791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주말 - 백업 · 밀린 작업 점검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86791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" y="4215384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" y="4215384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11.30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215384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4215384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기능별 시연 영상 촬영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215384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" y="4562856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" y="4562856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12.01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4562856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562856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최종 문서 · 스크린샷 · BP 캡처 정리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562856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" y="4910328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9848" y="4910328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12.02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910328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4910328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소스 / uasset 압축, 제출 폴더 정리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4910328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" y="5257800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" y="5257800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12.03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5257800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257800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발표 자료 리허설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5257800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" y="5605272"/>
            <a:ext cx="10671048" cy="310896"/>
          </a:xfrm>
          <a:prstGeom prst="roundRect">
            <a:avLst>
              <a:gd name="adj" fmla="val 23529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" y="5605272"/>
            <a:ext cx="10972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12.04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5605272"/>
            <a:ext cx="64008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5605272"/>
            <a:ext cx="640080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최종 제출 및 백업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605272"/>
            <a:ext cx="17373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D6B0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540187" cy="807707"/>
          </a:xfrm>
          <a:custGeom>
            <a:avLst/>
            <a:gdLst/>
            <a:ahLst/>
            <a:cxnLst/>
            <a:rect l="l" t="t" r="r" b="b"/>
            <a:pathLst>
              <a:path w="1540187" h="807707">
                <a:moveTo>
                  <a:pt x="0" y="0"/>
                </a:moveTo>
                <a:lnTo>
                  <a:pt x="732480" y="0"/>
                </a:lnTo>
                <a:lnTo>
                  <a:pt x="1540187" y="807707"/>
                </a:lnTo>
                <a:lnTo>
                  <a:pt x="807707" y="807707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0097"/>
            <a:ext cx="427610" cy="427610"/>
          </a:xfrm>
          <a:custGeom>
            <a:avLst/>
            <a:gdLst/>
            <a:ahLst/>
            <a:cxnLst/>
            <a:rect l="l" t="t" r="r" b="b"/>
            <a:pathLst>
              <a:path w="427610" h="427610">
                <a:moveTo>
                  <a:pt x="0" y="0"/>
                </a:moveTo>
                <a:lnTo>
                  <a:pt x="427610" y="427610"/>
                </a:lnTo>
                <a:lnTo>
                  <a:pt x="0" y="427610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429768"/>
            <a:ext cx="888796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069848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제출물 구성과 제출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6455664"/>
            <a:ext cx="6345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Shooting Arena  |  프로젝트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1048" y="6455664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27632"/>
            <a:ext cx="5248656" cy="1280160"/>
          </a:xfrm>
          <a:prstGeom prst="roundRect">
            <a:avLst>
              <a:gd name="adj" fmla="val 11428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084832"/>
            <a:ext cx="365760" cy="365760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1" y="18288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기획서 (PPT)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2249424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프로젝트 소개 · 게임 설명 · 작업목록 · AI 활용 · 일정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27632"/>
            <a:ext cx="5248656" cy="1280160"/>
          </a:xfrm>
          <a:prstGeom prst="roundRect">
            <a:avLst>
              <a:gd name="adj" fmla="val 11428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084832"/>
            <a:ext cx="365760" cy="365760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8288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프롬프트 문서 (Word)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2249424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AI 사용 프롬프트 원문과 결과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044952"/>
            <a:ext cx="5248656" cy="1280160"/>
          </a:xfrm>
          <a:prstGeom prst="roundRect">
            <a:avLst>
              <a:gd name="adj" fmla="val 11428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1" y="3502152"/>
            <a:ext cx="365760" cy="365760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5021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1" y="32461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프로젝트 소스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1" y="3666744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Source, Content, Config, .uproject (Binaries · Intermediate · Saved 제외)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044952"/>
            <a:ext cx="5248656" cy="1280160"/>
          </a:xfrm>
          <a:prstGeom prst="roundRect">
            <a:avLst>
              <a:gd name="adj" fmla="val 11428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3502152"/>
            <a:ext cx="365760" cy="365760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5021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32461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실행 exe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024" y="3666744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패키징 빌드. 총 용량 400MB 이상이면 영상으로 대체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4462272"/>
            <a:ext cx="5248656" cy="1280160"/>
          </a:xfrm>
          <a:prstGeom prst="roundRect">
            <a:avLst>
              <a:gd name="adj" fmla="val 11428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1" y="4919472"/>
            <a:ext cx="365760" cy="365760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4919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1" y="46634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에디터 스크린샷 2장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1" y="5084064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레벨 뷰포트, 블루프린트 에디터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462272"/>
            <a:ext cx="5248656" cy="1280160"/>
          </a:xfrm>
          <a:prstGeom prst="roundRect">
            <a:avLst>
              <a:gd name="adj" fmla="val 11428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5664" y="4919472"/>
            <a:ext cx="365760" cy="365760"/>
          </a:xfrm>
          <a:prstGeom prst="ellipse">
            <a:avLst/>
          </a:pr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4919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4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0024" y="46634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Blueprint 캡처 + *.uasset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5084064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영상 대체 시 대표 영상, 기능별 영상과 함께 소스도 제출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" y="5897880"/>
            <a:ext cx="10671048" cy="411480"/>
          </a:xfrm>
          <a:prstGeom prst="roundRect">
            <a:avLst>
              <a:gd name="adj" fmla="val 31111"/>
            </a:avLst>
          </a:prstGeom>
          <a:solidFill>
            <a:srgbClr val="2A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5897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제출 방법: 네이버 MYBOX에 업로드한 뒤 공유 링크로 제출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3557016" cy="1865376"/>
          </a:xfrm>
          <a:custGeom>
            <a:avLst/>
            <a:gdLst/>
            <a:ahLst/>
            <a:cxnLst/>
            <a:rect l="l" t="t" r="r" b="b"/>
            <a:pathLst>
              <a:path w="3557016" h="1865376">
                <a:moveTo>
                  <a:pt x="0" y="0"/>
                </a:moveTo>
                <a:lnTo>
                  <a:pt x="1691640" y="0"/>
                </a:lnTo>
                <a:lnTo>
                  <a:pt x="3557016" y="1865376"/>
                </a:lnTo>
                <a:lnTo>
                  <a:pt x="1865376" y="1865376"/>
                </a:lnTo>
                <a:close/>
              </a:path>
            </a:pathLst>
          </a:custGeom>
          <a:solidFill>
            <a:srgbClr val="7F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877824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0" y="0"/>
                </a:moveTo>
                <a:lnTo>
                  <a:pt x="987552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2F6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1952" y="2414016"/>
            <a:ext cx="8887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3429000"/>
            <a:ext cx="8887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2F4F8"/>
                </a:solidFill>
                <a:latin typeface="Malgun Gothic"/>
                <a:ea typeface="Malgun Gothic"/>
                <a:cs typeface="Malgun Gothic"/>
              </a:rPr>
              <a:t>Shooting Arena  -  Unreal Engine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1952" y="4187952"/>
            <a:ext cx="2798064" cy="18288"/>
          </a:xfrm>
          <a:prstGeom prst="rect">
            <a:avLst/>
          </a:prstGeom>
          <a:solidFill>
            <a:srgbClr val="9AA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1952" y="4398264"/>
            <a:ext cx="8887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A6BA"/>
                </a:solidFill>
                <a:latin typeface="Malgun Gothic"/>
                <a:ea typeface="Malgun Gothic"/>
                <a:cs typeface="Malgun Gothic"/>
              </a:rPr>
              <a:t>github.com/Qusbell/BattleArena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